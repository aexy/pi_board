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56"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89"/>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225" autoAdjust="0"/>
    <p:restoredTop sz="93705" autoAdjust="0"/>
  </p:normalViewPr>
  <p:slideViewPr>
    <p:cSldViewPr snapToGrid="0">
      <p:cViewPr varScale="1">
        <p:scale>
          <a:sx n="24" d="100"/>
          <a:sy n="24" d="100"/>
        </p:scale>
        <p:origin x="126" y="5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81D14-A2B5-4AAB-B13C-CB340A15CE71}" type="datetimeFigureOut">
              <a:rPr lang="en-US" smtClean="0"/>
              <a:t>24-Nov-25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B0A688-E218-4112-9C6B-A40868617CD2}" type="slidenum">
              <a:rPr lang="en-US" smtClean="0"/>
              <a:t>‹#›</a:t>
            </a:fld>
            <a:endParaRPr lang="en-US"/>
          </a:p>
        </p:txBody>
      </p:sp>
    </p:spTree>
    <p:extLst>
      <p:ext uri="{BB962C8B-B14F-4D97-AF65-F5344CB8AC3E}">
        <p14:creationId xmlns:p14="http://schemas.microsoft.com/office/powerpoint/2010/main" val="3387929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B0A688-E218-4112-9C6B-A40868617CD2}" type="slidenum">
              <a:rPr lang="en-US" smtClean="0"/>
              <a:t>1</a:t>
            </a:fld>
            <a:endParaRPr lang="en-US"/>
          </a:p>
        </p:txBody>
      </p:sp>
    </p:spTree>
    <p:extLst>
      <p:ext uri="{BB962C8B-B14F-4D97-AF65-F5344CB8AC3E}">
        <p14:creationId xmlns:p14="http://schemas.microsoft.com/office/powerpoint/2010/main" val="3355729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94E778-C0BE-458D-9090-188B59FB1F03}" type="datetimeFigureOut">
              <a:rPr lang="en-US" smtClean="0"/>
              <a:t>24-Nov-25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4092658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94E778-C0BE-458D-9090-188B59FB1F03}" type="datetimeFigureOut">
              <a:rPr lang="en-US" smtClean="0"/>
              <a:t>24-Nov-25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1757094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4E778-C0BE-458D-9090-188B59FB1F03}" type="datetimeFigureOut">
              <a:rPr lang="en-US" smtClean="0"/>
              <a:t>24-Nov-25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2630533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94E778-C0BE-458D-9090-188B59FB1F03}" type="datetimeFigureOut">
              <a:rPr lang="en-US" smtClean="0"/>
              <a:t>24-Nov-25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1925778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94E778-C0BE-458D-9090-188B59FB1F03}" type="datetimeFigureOut">
              <a:rPr lang="en-US" smtClean="0"/>
              <a:t>24-Nov-25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4113966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94E778-C0BE-458D-9090-188B59FB1F03}" type="datetimeFigureOut">
              <a:rPr lang="en-US" smtClean="0"/>
              <a:t>24-Nov-25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2338399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94E778-C0BE-458D-9090-188B59FB1F03}" type="datetimeFigureOut">
              <a:rPr lang="en-US" smtClean="0"/>
              <a:t>24-Nov-25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1088534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3994E778-C0BE-458D-9090-188B59FB1F03}" type="datetimeFigureOut">
              <a:rPr lang="en-US" smtClean="0"/>
              <a:t>24-Nov-25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155778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3994E778-C0BE-458D-9090-188B59FB1F03}" type="datetimeFigureOut">
              <a:rPr lang="en-US" smtClean="0"/>
              <a:t>24-Nov-25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2106963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94E778-C0BE-458D-9090-188B59FB1F03}" type="datetimeFigureOut">
              <a:rPr lang="en-US" smtClean="0"/>
              <a:t>24-Nov-25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234212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94E778-C0BE-458D-9090-188B59FB1F03}" type="datetimeFigureOut">
              <a:rPr lang="en-US" smtClean="0"/>
              <a:t>24-Nov-25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E763B-CBAC-4BB3-9D3C-8498C50D701E}" type="slidenum">
              <a:rPr lang="en-US" smtClean="0"/>
              <a:t>‹#›</a:t>
            </a:fld>
            <a:endParaRPr lang="en-US"/>
          </a:p>
        </p:txBody>
      </p:sp>
    </p:spTree>
    <p:extLst>
      <p:ext uri="{BB962C8B-B14F-4D97-AF65-F5344CB8AC3E}">
        <p14:creationId xmlns:p14="http://schemas.microsoft.com/office/powerpoint/2010/main" val="3102248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3994E778-C0BE-458D-9090-188B59FB1F03}" type="datetimeFigureOut">
              <a:rPr lang="en-US" smtClean="0"/>
              <a:t>24-Nov-25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33FE763B-CBAC-4BB3-9D3C-8498C50D701E}" type="slidenum">
              <a:rPr lang="en-US" smtClean="0"/>
              <a:t>‹#›</a:t>
            </a:fld>
            <a:endParaRPr lang="en-US"/>
          </a:p>
        </p:txBody>
      </p:sp>
    </p:spTree>
    <p:extLst>
      <p:ext uri="{BB962C8B-B14F-4D97-AF65-F5344CB8AC3E}">
        <p14:creationId xmlns:p14="http://schemas.microsoft.com/office/powerpoint/2010/main" val="381515745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8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A82738-BBE8-E230-F291-E40DA85C8376}"/>
              </a:ext>
            </a:extLst>
          </p:cNvPr>
          <p:cNvSpPr>
            <a:spLocks noGrp="1" noRot="1" noMove="1" noResize="1" noEditPoints="1" noAdjustHandles="1" noChangeArrowheads="1" noChangeShapeType="1"/>
          </p:cNvSpPr>
          <p:nvPr/>
        </p:nvSpPr>
        <p:spPr>
          <a:xfrm>
            <a:off x="0" y="3179032"/>
            <a:ext cx="32918400" cy="1876656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 name="Rectangle 6">
            <a:extLst>
              <a:ext uri="{FF2B5EF4-FFF2-40B4-BE49-F238E27FC236}">
                <a16:creationId xmlns:a16="http://schemas.microsoft.com/office/drawing/2014/main" id="{0883101D-231E-038A-C378-025AED4A6E31}"/>
              </a:ext>
            </a:extLst>
          </p:cNvPr>
          <p:cNvSpPr/>
          <p:nvPr/>
        </p:nvSpPr>
        <p:spPr>
          <a:xfrm>
            <a:off x="367852" y="3459652"/>
            <a:ext cx="7676777" cy="4910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Abstract</a:t>
            </a:r>
          </a:p>
          <a:p>
            <a:endParaRPr lang="en-US" sz="1500" dirty="0">
              <a:solidFill>
                <a:schemeClr val="tx1"/>
              </a:solidFill>
            </a:endParaRPr>
          </a:p>
          <a:p>
            <a:pPr>
              <a:lnSpc>
                <a:spcPct val="150000"/>
              </a:lnSpc>
            </a:pPr>
            <a:r>
              <a:rPr lang="en-US" sz="3200" dirty="0">
                <a:solidFill>
                  <a:schemeClr val="tx1"/>
                </a:solidFill>
              </a:rPr>
              <a:t>Many to-do lists are either too complex or over-simplistic for personal use. Issue boards in the software domain address this challenge by integrating visualization with structured functionality to increase efficiency. Pi-board applies this Kanban-style approach for personal use by providing an open-source alternative.</a:t>
            </a:r>
          </a:p>
        </p:txBody>
      </p:sp>
      <p:sp>
        <p:nvSpPr>
          <p:cNvPr id="8" name="Rectangle 7">
            <a:extLst>
              <a:ext uri="{FF2B5EF4-FFF2-40B4-BE49-F238E27FC236}">
                <a16:creationId xmlns:a16="http://schemas.microsoft.com/office/drawing/2014/main" id="{0084C668-6D18-4520-466F-0AC5A4B4A64C}"/>
              </a:ext>
            </a:extLst>
          </p:cNvPr>
          <p:cNvSpPr/>
          <p:nvPr/>
        </p:nvSpPr>
        <p:spPr>
          <a:xfrm>
            <a:off x="8556928" y="3176584"/>
            <a:ext cx="9052643" cy="7843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pPr>
              <a:lnSpc>
                <a:spcPct val="150000"/>
              </a:lnSpc>
            </a:pPr>
            <a:r>
              <a:rPr lang="en-US" sz="5400" b="1" i="1" dirty="0">
                <a:solidFill>
                  <a:srgbClr val="000089"/>
                </a:solidFill>
                <a:latin typeface="+mj-lt"/>
              </a:rPr>
              <a:t>Literature</a:t>
            </a:r>
            <a:endParaRPr lang="en-US" sz="1500" b="1" i="1" dirty="0">
              <a:solidFill>
                <a:srgbClr val="000089"/>
              </a:solidFill>
              <a:latin typeface="+mj-lt"/>
            </a:endParaRPr>
          </a:p>
          <a:p>
            <a:pPr marL="428625" indent="-428625">
              <a:lnSpc>
                <a:spcPct val="150000"/>
              </a:lnSpc>
              <a:buFont typeface="Arial" panose="020B0604020202020204" pitchFamily="34" charset="0"/>
              <a:buChar char="•"/>
            </a:pPr>
            <a:r>
              <a:rPr lang="en-US" sz="3200" dirty="0">
                <a:solidFill>
                  <a:schemeClr val="tx1"/>
                </a:solidFill>
              </a:rPr>
              <a:t>Kanban positively affects </a:t>
            </a:r>
            <a:r>
              <a:rPr lang="en-US" sz="3200" b="1" dirty="0">
                <a:solidFill>
                  <a:schemeClr val="tx1"/>
                </a:solidFill>
              </a:rPr>
              <a:t>task prioritization</a:t>
            </a:r>
            <a:r>
              <a:rPr lang="en-US" sz="3200" dirty="0">
                <a:solidFill>
                  <a:schemeClr val="tx1"/>
                </a:solidFill>
              </a:rPr>
              <a:t> and decision-making through visualization and increased transparency.</a:t>
            </a:r>
            <a:r>
              <a:rPr lang="en-US" sz="3300" baseline="30000" dirty="0">
                <a:solidFill>
                  <a:schemeClr val="tx1"/>
                </a:solidFill>
              </a:rPr>
              <a:t>1</a:t>
            </a:r>
          </a:p>
          <a:p>
            <a:pPr marL="428625" indent="-428625">
              <a:lnSpc>
                <a:spcPct val="150000"/>
              </a:lnSpc>
              <a:buFont typeface="Arial" panose="020B0604020202020204" pitchFamily="34" charset="0"/>
              <a:buChar char="•"/>
            </a:pPr>
            <a:endParaRPr lang="en-US" sz="1500" dirty="0">
              <a:solidFill>
                <a:schemeClr val="tx1"/>
              </a:solidFill>
            </a:endParaRPr>
          </a:p>
          <a:p>
            <a:pPr marL="428625" indent="-428625">
              <a:lnSpc>
                <a:spcPct val="150000"/>
              </a:lnSpc>
              <a:buFont typeface="Arial" panose="020B0604020202020204" pitchFamily="34" charset="0"/>
              <a:buChar char="•"/>
            </a:pPr>
            <a:r>
              <a:rPr lang="en-US" sz="3200" dirty="0">
                <a:solidFill>
                  <a:schemeClr val="tx1"/>
                </a:solidFill>
              </a:rPr>
              <a:t>Kanban increases </a:t>
            </a:r>
            <a:r>
              <a:rPr lang="en-US" sz="3200" b="1" dirty="0">
                <a:solidFill>
                  <a:schemeClr val="tx1"/>
                </a:solidFill>
              </a:rPr>
              <a:t>control over tasks</a:t>
            </a:r>
            <a:r>
              <a:rPr lang="en-US" sz="3200" dirty="0">
                <a:solidFill>
                  <a:schemeClr val="tx1"/>
                </a:solidFill>
              </a:rPr>
              <a:t> by capping work-in-progress and reducing average lead time.</a:t>
            </a:r>
            <a:r>
              <a:rPr lang="en-US" sz="3000" baseline="30000" dirty="0">
                <a:solidFill>
                  <a:schemeClr val="tx1"/>
                </a:solidFill>
              </a:rPr>
              <a:t> </a:t>
            </a:r>
            <a:r>
              <a:rPr lang="en-US" sz="3300" baseline="30000" dirty="0">
                <a:solidFill>
                  <a:schemeClr val="tx1"/>
                </a:solidFill>
              </a:rPr>
              <a:t>1</a:t>
            </a:r>
            <a:br>
              <a:rPr lang="en-US" sz="3300" dirty="0">
                <a:solidFill>
                  <a:schemeClr val="tx1"/>
                </a:solidFill>
              </a:rPr>
            </a:br>
            <a:endParaRPr lang="en-US" sz="1500" dirty="0">
              <a:solidFill>
                <a:schemeClr val="tx1"/>
              </a:solidFill>
            </a:endParaRPr>
          </a:p>
          <a:p>
            <a:pPr marL="428625" indent="-428625">
              <a:lnSpc>
                <a:spcPct val="150000"/>
              </a:lnSpc>
              <a:buFont typeface="Arial" panose="020B0604020202020204" pitchFamily="34" charset="0"/>
              <a:buChar char="•"/>
            </a:pPr>
            <a:r>
              <a:rPr lang="en-US" sz="3200" dirty="0">
                <a:solidFill>
                  <a:schemeClr val="tx1"/>
                </a:solidFill>
              </a:rPr>
              <a:t>Kanban enhances the quality of task completion through </a:t>
            </a:r>
            <a:r>
              <a:rPr lang="en-US" sz="3200" b="1" dirty="0">
                <a:solidFill>
                  <a:schemeClr val="tx1"/>
                </a:solidFill>
              </a:rPr>
              <a:t>workflow optimization</a:t>
            </a:r>
            <a:r>
              <a:rPr lang="en-US" sz="3200" dirty="0">
                <a:solidFill>
                  <a:schemeClr val="tx1"/>
                </a:solidFill>
              </a:rPr>
              <a:t>. </a:t>
            </a:r>
            <a:r>
              <a:rPr lang="en-US" sz="3300" baseline="30000" dirty="0">
                <a:solidFill>
                  <a:schemeClr val="tx1"/>
                </a:solidFill>
              </a:rPr>
              <a:t>2</a:t>
            </a:r>
            <a:endParaRPr lang="en-US" sz="3300" dirty="0">
              <a:solidFill>
                <a:schemeClr val="tx1"/>
              </a:solidFill>
            </a:endParaRPr>
          </a:p>
        </p:txBody>
      </p:sp>
      <p:sp>
        <p:nvSpPr>
          <p:cNvPr id="9" name="Rectangle 8">
            <a:extLst>
              <a:ext uri="{FF2B5EF4-FFF2-40B4-BE49-F238E27FC236}">
                <a16:creationId xmlns:a16="http://schemas.microsoft.com/office/drawing/2014/main" id="{934FBBA1-646D-D6FB-6521-EA7FDFCC348A}"/>
              </a:ext>
            </a:extLst>
          </p:cNvPr>
          <p:cNvSpPr/>
          <p:nvPr/>
        </p:nvSpPr>
        <p:spPr>
          <a:xfrm>
            <a:off x="23938350" y="3455937"/>
            <a:ext cx="8694299" cy="6502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Results</a:t>
            </a:r>
            <a:endParaRPr lang="en-US" sz="1500" b="1" i="1" dirty="0">
              <a:solidFill>
                <a:srgbClr val="000089"/>
              </a:solidFill>
              <a:latin typeface="+mj-lt"/>
            </a:endParaRPr>
          </a:p>
          <a:p>
            <a:pPr>
              <a:lnSpc>
                <a:spcPct val="150000"/>
              </a:lnSpc>
            </a:pPr>
            <a:r>
              <a:rPr lang="en-US" sz="3200" dirty="0">
                <a:solidFill>
                  <a:schemeClr val="tx1"/>
                </a:solidFill>
              </a:rPr>
              <a:t>The implementation of </a:t>
            </a:r>
            <a:r>
              <a:rPr lang="el-GR" sz="3200" dirty="0">
                <a:solidFill>
                  <a:schemeClr val="tx1"/>
                </a:solidFill>
              </a:rPr>
              <a:t>π-</a:t>
            </a:r>
            <a:r>
              <a:rPr lang="en-US" sz="3200" dirty="0">
                <a:solidFill>
                  <a:schemeClr val="tx1"/>
                </a:solidFill>
              </a:rPr>
              <a:t>board demonstrates that Kanban principles can be adapted for personal task management. By providing a visual interface of all tasks, users gain oversight of their responsibilities. By enabling AI integration, personal productivity can be further enhanced through a Kanban style alternative to traditional to-do lists.</a:t>
            </a:r>
          </a:p>
        </p:txBody>
      </p:sp>
      <p:sp>
        <p:nvSpPr>
          <p:cNvPr id="11" name="Rectangle 10">
            <a:extLst>
              <a:ext uri="{FF2B5EF4-FFF2-40B4-BE49-F238E27FC236}">
                <a16:creationId xmlns:a16="http://schemas.microsoft.com/office/drawing/2014/main" id="{DFF0FB8A-1052-9106-C2B0-867D21FE58D3}"/>
              </a:ext>
            </a:extLst>
          </p:cNvPr>
          <p:cNvSpPr/>
          <p:nvPr/>
        </p:nvSpPr>
        <p:spPr>
          <a:xfrm>
            <a:off x="367851" y="10972800"/>
            <a:ext cx="7990285" cy="9910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Introduction</a:t>
            </a:r>
          </a:p>
          <a:p>
            <a:endParaRPr lang="en-US" sz="1500" dirty="0">
              <a:solidFill>
                <a:schemeClr val="tx1"/>
              </a:solidFill>
            </a:endParaRPr>
          </a:p>
          <a:p>
            <a:pPr>
              <a:lnSpc>
                <a:spcPct val="150000"/>
              </a:lnSpc>
            </a:pPr>
            <a:r>
              <a:rPr lang="en-US" sz="3200" dirty="0">
                <a:solidFill>
                  <a:schemeClr val="tx1"/>
                </a:solidFill>
              </a:rPr>
              <a:t>Kanban boards aim to visualize workflows and simplify the identification of bottlenecks by placing tasks into different columns according to their status. The benefits of Kanban has the following key aspects on workflow:</a:t>
            </a:r>
          </a:p>
          <a:p>
            <a:pPr marL="771525" lvl="1" indent="-428625">
              <a:lnSpc>
                <a:spcPct val="150000"/>
              </a:lnSpc>
              <a:buFont typeface="Arial" panose="020B0604020202020204" pitchFamily="34" charset="0"/>
              <a:buChar char="•"/>
            </a:pPr>
            <a:r>
              <a:rPr lang="en-US" sz="3200" dirty="0">
                <a:solidFill>
                  <a:schemeClr val="tx1"/>
                </a:solidFill>
              </a:rPr>
              <a:t>Limits work-in-progress (WIP)</a:t>
            </a:r>
          </a:p>
          <a:p>
            <a:pPr marL="771525" lvl="1" indent="-428625">
              <a:lnSpc>
                <a:spcPct val="150000"/>
              </a:lnSpc>
              <a:buFont typeface="Arial" panose="020B0604020202020204" pitchFamily="34" charset="0"/>
              <a:buChar char="•"/>
            </a:pPr>
            <a:r>
              <a:rPr lang="en-US" sz="3200" dirty="0">
                <a:solidFill>
                  <a:schemeClr val="tx1"/>
                </a:solidFill>
              </a:rPr>
              <a:t>Reduces task completion time</a:t>
            </a:r>
          </a:p>
          <a:p>
            <a:pPr marL="771525" lvl="1" indent="-428625">
              <a:lnSpc>
                <a:spcPct val="150000"/>
              </a:lnSpc>
              <a:buFont typeface="Arial" panose="020B0604020202020204" pitchFamily="34" charset="0"/>
              <a:buChar char="•"/>
            </a:pPr>
            <a:r>
              <a:rPr lang="en-US" sz="3200" dirty="0">
                <a:solidFill>
                  <a:schemeClr val="tx1"/>
                </a:solidFill>
              </a:rPr>
              <a:t>Improves task prioritization</a:t>
            </a:r>
          </a:p>
          <a:p>
            <a:pPr>
              <a:lnSpc>
                <a:spcPct val="150000"/>
              </a:lnSpc>
            </a:pPr>
            <a:r>
              <a:rPr lang="en-US" sz="3200" dirty="0">
                <a:solidFill>
                  <a:schemeClr val="tx1"/>
                </a:solidFill>
              </a:rPr>
              <a:t>With </a:t>
            </a:r>
            <a:r>
              <a:rPr lang="el-GR" sz="3200" dirty="0">
                <a:solidFill>
                  <a:schemeClr val="tx1"/>
                </a:solidFill>
              </a:rPr>
              <a:t>π</a:t>
            </a:r>
            <a:r>
              <a:rPr lang="en-US" sz="3200" dirty="0">
                <a:solidFill>
                  <a:schemeClr val="tx1"/>
                </a:solidFill>
              </a:rPr>
              <a:t>-board, benefits of Kanban can be applied to personal task management to support personal growth and success.</a:t>
            </a:r>
          </a:p>
        </p:txBody>
      </p:sp>
      <p:sp>
        <p:nvSpPr>
          <p:cNvPr id="12" name="Rectangle 11">
            <a:extLst>
              <a:ext uri="{FF2B5EF4-FFF2-40B4-BE49-F238E27FC236}">
                <a16:creationId xmlns:a16="http://schemas.microsoft.com/office/drawing/2014/main" id="{D617656E-83E6-19F1-AD27-EF8911BFD81C}"/>
              </a:ext>
            </a:extLst>
          </p:cNvPr>
          <p:cNvSpPr/>
          <p:nvPr/>
        </p:nvSpPr>
        <p:spPr>
          <a:xfrm>
            <a:off x="24861748" y="16358961"/>
            <a:ext cx="7542303" cy="23862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endParaRPr lang="en-US" sz="5400" dirty="0">
              <a:solidFill>
                <a:srgbClr val="000089"/>
              </a:solidFill>
              <a:latin typeface="+mj-lt"/>
            </a:endParaRPr>
          </a:p>
        </p:txBody>
      </p:sp>
      <p:pic>
        <p:nvPicPr>
          <p:cNvPr id="14" name="Picture 13" descr="A logo of a university&#10;&#10;AI-generated content may be incorrect.">
            <a:extLst>
              <a:ext uri="{FF2B5EF4-FFF2-40B4-BE49-F238E27FC236}">
                <a16:creationId xmlns:a16="http://schemas.microsoft.com/office/drawing/2014/main" id="{B4D7B00B-8F21-323B-DCD8-2C77114371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51463" y="93284"/>
            <a:ext cx="6452588" cy="3083300"/>
          </a:xfrm>
          <a:prstGeom prst="rect">
            <a:avLst/>
          </a:prstGeom>
        </p:spPr>
      </p:pic>
      <p:sp>
        <p:nvSpPr>
          <p:cNvPr id="15" name="TextBox 14">
            <a:extLst>
              <a:ext uri="{FF2B5EF4-FFF2-40B4-BE49-F238E27FC236}">
                <a16:creationId xmlns:a16="http://schemas.microsoft.com/office/drawing/2014/main" id="{E68407A3-C59E-46AC-D07A-76DC4EB207BB}"/>
              </a:ext>
            </a:extLst>
          </p:cNvPr>
          <p:cNvSpPr txBox="1"/>
          <p:nvPr/>
        </p:nvSpPr>
        <p:spPr>
          <a:xfrm>
            <a:off x="1014192" y="678203"/>
            <a:ext cx="24460200" cy="1915909"/>
          </a:xfrm>
          <a:prstGeom prst="rect">
            <a:avLst/>
          </a:prstGeom>
          <a:noFill/>
        </p:spPr>
        <p:txBody>
          <a:bodyPr wrap="square" rtlCol="0">
            <a:spAutoFit/>
          </a:bodyPr>
          <a:lstStyle/>
          <a:p>
            <a:r>
              <a:rPr lang="el-GR" sz="6600" dirty="0">
                <a:solidFill>
                  <a:schemeClr val="bg1"/>
                </a:solidFill>
              </a:rPr>
              <a:t>π</a:t>
            </a:r>
            <a:r>
              <a:rPr lang="en-US" sz="6600" dirty="0">
                <a:solidFill>
                  <a:schemeClr val="bg1"/>
                </a:solidFill>
              </a:rPr>
              <a:t>-Board: Kanban-Style Alternative to Traditional To-Do Lists</a:t>
            </a:r>
          </a:p>
          <a:p>
            <a:endParaRPr lang="en-US" sz="1200" dirty="0">
              <a:solidFill>
                <a:schemeClr val="bg1"/>
              </a:solidFill>
            </a:endParaRPr>
          </a:p>
          <a:p>
            <a:r>
              <a:rPr lang="en-US" sz="4050" dirty="0">
                <a:solidFill>
                  <a:schemeClr val="bg1"/>
                </a:solidFill>
              </a:rPr>
              <a:t>Ali Eren Karaca, Virginia Wesleyan University, CS-489: Research in Computer Science – Dr. John Wang</a:t>
            </a:r>
          </a:p>
        </p:txBody>
      </p:sp>
      <p:sp>
        <p:nvSpPr>
          <p:cNvPr id="3" name="Rectangle 2">
            <a:extLst>
              <a:ext uri="{FF2B5EF4-FFF2-40B4-BE49-F238E27FC236}">
                <a16:creationId xmlns:a16="http://schemas.microsoft.com/office/drawing/2014/main" id="{8FADEF26-9F00-F368-96BD-D62E1E34E34C}"/>
              </a:ext>
            </a:extLst>
          </p:cNvPr>
          <p:cNvSpPr/>
          <p:nvPr/>
        </p:nvSpPr>
        <p:spPr>
          <a:xfrm>
            <a:off x="8556928" y="11282085"/>
            <a:ext cx="9052645" cy="9305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Methods</a:t>
            </a:r>
            <a:endParaRPr lang="en-US" sz="1500" b="1" i="1" dirty="0">
              <a:solidFill>
                <a:srgbClr val="000089"/>
              </a:solidFill>
              <a:latin typeface="+mj-lt"/>
            </a:endParaRPr>
          </a:p>
          <a:p>
            <a:pPr>
              <a:lnSpc>
                <a:spcPct val="150000"/>
              </a:lnSpc>
            </a:pPr>
            <a:r>
              <a:rPr lang="en-US" sz="3200" dirty="0">
                <a:solidFill>
                  <a:schemeClr val="tx1"/>
                </a:solidFill>
              </a:rPr>
              <a:t>The open-source </a:t>
            </a:r>
            <a:r>
              <a:rPr lang="el-GR" sz="3200" dirty="0">
                <a:solidFill>
                  <a:schemeClr val="tx1"/>
                </a:solidFill>
              </a:rPr>
              <a:t>π</a:t>
            </a:r>
            <a:r>
              <a:rPr lang="en-US" sz="3200" dirty="0">
                <a:solidFill>
                  <a:schemeClr val="tx1"/>
                </a:solidFill>
              </a:rPr>
              <a:t>-board is built using Java, Maven, and requires a database, preferably PostgreSQL or Supabase, both of which are open-source. </a:t>
            </a:r>
            <a:r>
              <a:rPr lang="el-GR" sz="3200" dirty="0">
                <a:solidFill>
                  <a:schemeClr val="tx1"/>
                </a:solidFill>
              </a:rPr>
              <a:t>π-</a:t>
            </a:r>
            <a:r>
              <a:rPr lang="en-US" sz="3200" dirty="0">
                <a:solidFill>
                  <a:schemeClr val="tx1"/>
                </a:solidFill>
              </a:rPr>
              <a:t>board implements a Kanban-style workflow visualization of personal tasks through the web-based user interface. </a:t>
            </a:r>
          </a:p>
          <a:p>
            <a:pPr>
              <a:lnSpc>
                <a:spcPct val="150000"/>
              </a:lnSpc>
            </a:pPr>
            <a:endParaRPr lang="en-US" sz="3000" dirty="0">
              <a:solidFill>
                <a:schemeClr val="tx1"/>
              </a:solidFill>
            </a:endParaRPr>
          </a:p>
          <a:p>
            <a:pPr>
              <a:lnSpc>
                <a:spcPct val="150000"/>
              </a:lnSpc>
            </a:pPr>
            <a:r>
              <a:rPr lang="en-US" sz="3200" dirty="0">
                <a:solidFill>
                  <a:schemeClr val="tx1"/>
                </a:solidFill>
              </a:rPr>
              <a:t>Beyond its standard functionality, </a:t>
            </a:r>
            <a:r>
              <a:rPr lang="el-GR" sz="3200" dirty="0">
                <a:solidFill>
                  <a:schemeClr val="tx1"/>
                </a:solidFill>
              </a:rPr>
              <a:t>π</a:t>
            </a:r>
            <a:r>
              <a:rPr lang="en-US" sz="3200" dirty="0">
                <a:solidFill>
                  <a:schemeClr val="tx1"/>
                </a:solidFill>
              </a:rPr>
              <a:t>-board is designed to integrate seamlessly with local AI systems, such as Claude Desktop, via the MCP interface, enabling </a:t>
            </a:r>
            <a:r>
              <a:rPr lang="en-US" sz="3200" b="1" dirty="0">
                <a:solidFill>
                  <a:schemeClr val="tx1"/>
                </a:solidFill>
              </a:rPr>
              <a:t>AI supported</a:t>
            </a:r>
            <a:r>
              <a:rPr lang="en-US" sz="3200" dirty="0">
                <a:solidFill>
                  <a:schemeClr val="tx1"/>
                </a:solidFill>
              </a:rPr>
              <a:t> workflow assistance. </a:t>
            </a:r>
          </a:p>
        </p:txBody>
      </p:sp>
      <p:sp>
        <p:nvSpPr>
          <p:cNvPr id="6" name="Rectangle 5">
            <a:extLst>
              <a:ext uri="{FF2B5EF4-FFF2-40B4-BE49-F238E27FC236}">
                <a16:creationId xmlns:a16="http://schemas.microsoft.com/office/drawing/2014/main" id="{F67A6878-29EC-B2CE-2672-C3DE8CDE358A}"/>
              </a:ext>
            </a:extLst>
          </p:cNvPr>
          <p:cNvSpPr/>
          <p:nvPr/>
        </p:nvSpPr>
        <p:spPr>
          <a:xfrm>
            <a:off x="23938350" y="10041736"/>
            <a:ext cx="8694300" cy="55342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Discussion</a:t>
            </a:r>
            <a:endParaRPr lang="en-US" sz="825" b="1" i="1" dirty="0">
              <a:solidFill>
                <a:srgbClr val="000089"/>
              </a:solidFill>
              <a:latin typeface="+mj-lt"/>
            </a:endParaRPr>
          </a:p>
          <a:p>
            <a:pPr>
              <a:lnSpc>
                <a:spcPct val="150000"/>
              </a:lnSpc>
            </a:pPr>
            <a:r>
              <a:rPr lang="en-US" sz="3200" dirty="0">
                <a:solidFill>
                  <a:schemeClr val="tx1"/>
                </a:solidFill>
              </a:rPr>
              <a:t>The project shows that Kanban-based visualization can be integrated with traditional to-do lists to improve personal productivity and task completion; however, its effectiveness ultimately depends on consistent user engagement.</a:t>
            </a:r>
          </a:p>
        </p:txBody>
      </p:sp>
      <p:cxnSp>
        <p:nvCxnSpPr>
          <p:cNvPr id="5" name="Straight Connector 4">
            <a:extLst>
              <a:ext uri="{FF2B5EF4-FFF2-40B4-BE49-F238E27FC236}">
                <a16:creationId xmlns:a16="http://schemas.microsoft.com/office/drawing/2014/main" id="{3BA301AA-E17C-EFB1-E14C-39A6A5934DD3}"/>
              </a:ext>
            </a:extLst>
          </p:cNvPr>
          <p:cNvCxnSpPr>
            <a:cxnSpLocks/>
          </p:cNvCxnSpPr>
          <p:nvPr/>
        </p:nvCxnSpPr>
        <p:spPr>
          <a:xfrm>
            <a:off x="8334539" y="3409859"/>
            <a:ext cx="0" cy="17502822"/>
          </a:xfrm>
          <a:prstGeom prst="line">
            <a:avLst/>
          </a:prstGeom>
          <a:ln>
            <a:solidFill>
              <a:srgbClr val="000089"/>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E4232F1-86F9-96F3-682C-02F716EEC53A}"/>
              </a:ext>
            </a:extLst>
          </p:cNvPr>
          <p:cNvCxnSpPr>
            <a:cxnSpLocks/>
          </p:cNvCxnSpPr>
          <p:nvPr/>
        </p:nvCxnSpPr>
        <p:spPr>
          <a:xfrm>
            <a:off x="17721681" y="3455937"/>
            <a:ext cx="0" cy="17427779"/>
          </a:xfrm>
          <a:prstGeom prst="line">
            <a:avLst/>
          </a:prstGeom>
          <a:ln>
            <a:solidFill>
              <a:srgbClr val="000089"/>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54F31F1A-0643-A93B-FD78-139DF884EE30}"/>
              </a:ext>
            </a:extLst>
          </p:cNvPr>
          <p:cNvSpPr/>
          <p:nvPr/>
        </p:nvSpPr>
        <p:spPr>
          <a:xfrm>
            <a:off x="23779338" y="15207369"/>
            <a:ext cx="9012321" cy="3949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References</a:t>
            </a:r>
            <a:endParaRPr lang="en-US" sz="1500" b="1" i="1" dirty="0">
              <a:solidFill>
                <a:srgbClr val="000089"/>
              </a:solidFill>
              <a:latin typeface="+mj-lt"/>
            </a:endParaRPr>
          </a:p>
          <a:p>
            <a:pPr marL="342900" indent="-342900">
              <a:buAutoNum type="arabicParenR"/>
            </a:pPr>
            <a:r>
              <a:rPr lang="en-US" sz="2400" dirty="0">
                <a:solidFill>
                  <a:schemeClr val="tx1"/>
                </a:solidFill>
              </a:rPr>
              <a:t>Sathe, C.A. and Panse, C. (2023),“An Empirical Study of Project Management Constraints in Agile Software Development:  Multigroup  Analysis  between  Scrum  and  Kanban”, Brazilian Journal of Operations and Production Management , Vol. 20,No.3 special edition, e20231796https://doi.org/10.14488/BJOPM.1796.2023</a:t>
            </a:r>
          </a:p>
          <a:p>
            <a:pPr marL="342900" indent="-342900">
              <a:buAutoNum type="arabicParenR"/>
            </a:pPr>
            <a:r>
              <a:rPr lang="en-US" sz="2400" dirty="0">
                <a:solidFill>
                  <a:schemeClr val="tx1"/>
                </a:solidFill>
              </a:rPr>
              <a:t>dos Santos, P. S., Beltrão, A. C., de Souza, B. P., &amp; Travassos, G. H. (2018). On the benefits and challenges of using Kanban in Software Engineering: A structured synthesis study. Journal of Software Engineering Research and Development, 6(1). https://doi.org/10.1186/s40411-018-0057-1 </a:t>
            </a:r>
          </a:p>
          <a:p>
            <a:pPr marL="342900" indent="-342900">
              <a:buAutoNum type="arabicParenR"/>
            </a:pPr>
            <a:r>
              <a:rPr lang="en-US" sz="2400" dirty="0">
                <a:solidFill>
                  <a:schemeClr val="tx1"/>
                </a:solidFill>
              </a:rPr>
              <a:t>Huang, C.-C., &amp; Kusiak, A. (1996). Overview of kanban systems. International Journal of Computer Integrated Manufacturing, 9(3), 169–189. https://doi.org/10.1080/095119296131643 </a:t>
            </a:r>
          </a:p>
        </p:txBody>
      </p:sp>
      <p:cxnSp>
        <p:nvCxnSpPr>
          <p:cNvPr id="25" name="Straight Connector 24">
            <a:extLst>
              <a:ext uri="{FF2B5EF4-FFF2-40B4-BE49-F238E27FC236}">
                <a16:creationId xmlns:a16="http://schemas.microsoft.com/office/drawing/2014/main" id="{8E1F1470-C007-A582-A305-FD2ABD44F30F}"/>
              </a:ext>
            </a:extLst>
          </p:cNvPr>
          <p:cNvCxnSpPr>
            <a:cxnSpLocks/>
          </p:cNvCxnSpPr>
          <p:nvPr/>
        </p:nvCxnSpPr>
        <p:spPr>
          <a:xfrm>
            <a:off x="23620326" y="3455937"/>
            <a:ext cx="0" cy="17427779"/>
          </a:xfrm>
          <a:prstGeom prst="line">
            <a:avLst/>
          </a:prstGeom>
          <a:ln>
            <a:solidFill>
              <a:srgbClr val="000089"/>
            </a:solidFill>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4E9F80B4-5701-9478-E0E7-C8448E6E2227}"/>
              </a:ext>
            </a:extLst>
          </p:cNvPr>
          <p:cNvSpPr/>
          <p:nvPr/>
        </p:nvSpPr>
        <p:spPr>
          <a:xfrm>
            <a:off x="18118014" y="3455937"/>
            <a:ext cx="5235719" cy="1781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kern="1200"/>
            </a:defPPr>
          </a:lstStyle>
          <a:p>
            <a:r>
              <a:rPr lang="en-US" sz="5400" b="1" i="1" dirty="0">
                <a:solidFill>
                  <a:srgbClr val="000089"/>
                </a:solidFill>
                <a:latin typeface="+mj-lt"/>
              </a:rPr>
              <a:t>Visual Overview</a:t>
            </a:r>
          </a:p>
          <a:p>
            <a:endParaRPr lang="en-US" sz="5400" b="1" i="1" dirty="0">
              <a:solidFill>
                <a:srgbClr val="000089"/>
              </a:solidFill>
              <a:latin typeface="+mj-lt"/>
            </a:endParaRPr>
          </a:p>
          <a:p>
            <a:endParaRPr lang="en-US" sz="5400" b="1" i="1" dirty="0">
              <a:solidFill>
                <a:srgbClr val="000089"/>
              </a:solidFill>
              <a:latin typeface="+mj-lt"/>
            </a:endParaRPr>
          </a:p>
          <a:p>
            <a:endParaRPr lang="en-US" sz="5400" b="1" i="1" dirty="0">
              <a:solidFill>
                <a:srgbClr val="000089"/>
              </a:solidFill>
              <a:latin typeface="+mj-lt"/>
            </a:endParaRPr>
          </a:p>
          <a:p>
            <a:endParaRPr lang="en-US" sz="5400" b="1" i="1" dirty="0">
              <a:solidFill>
                <a:srgbClr val="000089"/>
              </a:solidFill>
              <a:latin typeface="+mj-lt"/>
            </a:endParaRPr>
          </a:p>
          <a:p>
            <a:endParaRPr lang="en-US" sz="5400" b="1" i="1" dirty="0">
              <a:solidFill>
                <a:srgbClr val="000089"/>
              </a:solidFill>
              <a:latin typeface="+mj-lt"/>
            </a:endParaRPr>
          </a:p>
          <a:p>
            <a:endParaRPr lang="en-US" sz="2100" b="1" i="1" dirty="0">
              <a:solidFill>
                <a:srgbClr val="000089"/>
              </a:solidFill>
              <a:latin typeface="+mj-lt"/>
            </a:endParaRPr>
          </a:p>
          <a:p>
            <a:r>
              <a:rPr lang="en-US" sz="2400" b="1" dirty="0">
                <a:solidFill>
                  <a:schemeClr val="tx1"/>
                </a:solidFill>
                <a:latin typeface="Aptos Narrow" panose="020B0004020202020204" pitchFamily="34" charset="0"/>
              </a:rPr>
              <a:t>Figure 1: </a:t>
            </a:r>
            <a:r>
              <a:rPr lang="en-US" sz="2400" dirty="0">
                <a:solidFill>
                  <a:schemeClr val="tx1"/>
                </a:solidFill>
                <a:latin typeface="Aptos Narrow" panose="020B0004020202020204" pitchFamily="34" charset="0"/>
              </a:rPr>
              <a:t>Claude Desktop Integration</a:t>
            </a: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dirty="0">
              <a:solidFill>
                <a:schemeClr val="tx1"/>
              </a:solidFill>
              <a:latin typeface="Aptos Narrow" panose="020B0004020202020204" pitchFamily="34" charset="0"/>
            </a:endParaRPr>
          </a:p>
          <a:p>
            <a:endParaRPr lang="en-US" sz="2400" b="1" dirty="0">
              <a:solidFill>
                <a:schemeClr val="tx1"/>
              </a:solidFill>
              <a:latin typeface="Aptos Narrow" panose="020B0004020202020204" pitchFamily="34" charset="0"/>
            </a:endParaRPr>
          </a:p>
          <a:p>
            <a:r>
              <a:rPr lang="en-US" sz="2400" b="1" dirty="0">
                <a:solidFill>
                  <a:schemeClr val="tx1"/>
                </a:solidFill>
                <a:latin typeface="Aptos Narrow" panose="020B0004020202020204" pitchFamily="34" charset="0"/>
              </a:rPr>
              <a:t>Figure 2:</a:t>
            </a:r>
            <a:r>
              <a:rPr lang="en-US" sz="2400" dirty="0">
                <a:solidFill>
                  <a:schemeClr val="tx1"/>
                </a:solidFill>
                <a:latin typeface="Aptos Narrow" panose="020B0004020202020204" pitchFamily="34" charset="0"/>
              </a:rPr>
              <a:t> Web Interface</a:t>
            </a: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dirty="0">
              <a:solidFill>
                <a:schemeClr val="tx1"/>
              </a:solidFill>
              <a:latin typeface="Aptos Narrow" panose="020B0004020202020204" pitchFamily="34" charset="0"/>
            </a:endParaRPr>
          </a:p>
          <a:p>
            <a:endParaRPr lang="en-US" sz="2400" b="1" dirty="0">
              <a:solidFill>
                <a:schemeClr val="tx1"/>
              </a:solidFill>
              <a:latin typeface="Aptos Narrow" panose="020B0004020202020204" pitchFamily="34" charset="0"/>
            </a:endParaRPr>
          </a:p>
          <a:p>
            <a:r>
              <a:rPr lang="en-US" sz="2400" b="1" dirty="0">
                <a:solidFill>
                  <a:schemeClr val="tx1"/>
                </a:solidFill>
                <a:latin typeface="Aptos Narrow" panose="020B0004020202020204" pitchFamily="34" charset="0"/>
              </a:rPr>
              <a:t>Figure 3: </a:t>
            </a:r>
            <a:r>
              <a:rPr lang="en-US" sz="2400" dirty="0">
                <a:solidFill>
                  <a:schemeClr val="tx1"/>
                </a:solidFill>
                <a:latin typeface="Aptos Narrow" panose="020B0004020202020204" pitchFamily="34" charset="0"/>
              </a:rPr>
              <a:t>Kanban board from GitHub</a:t>
            </a:r>
            <a:endParaRPr lang="en-US" sz="2400" b="1" dirty="0">
              <a:solidFill>
                <a:schemeClr val="tx1"/>
              </a:solidFill>
              <a:latin typeface="Aptos Narrow" panose="020B0004020202020204" pitchFamily="34" charset="0"/>
            </a:endParaRPr>
          </a:p>
        </p:txBody>
      </p:sp>
      <p:pic>
        <p:nvPicPr>
          <p:cNvPr id="18" name="Picture 17" descr="A screenshot of a computer&#10;&#10;AI-generated content may be incorrect.">
            <a:extLst>
              <a:ext uri="{FF2B5EF4-FFF2-40B4-BE49-F238E27FC236}">
                <a16:creationId xmlns:a16="http://schemas.microsoft.com/office/drawing/2014/main" id="{3C7A9099-05B5-7C90-5B91-39BA22D182B7}"/>
              </a:ext>
            </a:extLst>
          </p:cNvPr>
          <p:cNvPicPr>
            <a:picLocks noChangeAspect="1"/>
          </p:cNvPicPr>
          <p:nvPr/>
        </p:nvPicPr>
        <p:blipFill>
          <a:blip r:embed="rId4">
            <a:extLst>
              <a:ext uri="{28A0092B-C50C-407E-A947-70E740481C1C}">
                <a14:useLocalDpi xmlns:a14="http://schemas.microsoft.com/office/drawing/2010/main" val="0"/>
              </a:ext>
            </a:extLst>
          </a:blip>
          <a:srcRect r="25653"/>
          <a:stretch>
            <a:fillRect/>
          </a:stretch>
        </p:blipFill>
        <p:spPr>
          <a:xfrm>
            <a:off x="18252723" y="4459134"/>
            <a:ext cx="4935838" cy="4288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266EE44C-0550-EB25-34A9-1C22A4E1C7D1}"/>
              </a:ext>
            </a:extLst>
          </p:cNvPr>
          <p:cNvPicPr>
            <a:picLocks noChangeAspect="1"/>
          </p:cNvPicPr>
          <p:nvPr/>
        </p:nvPicPr>
        <p:blipFill>
          <a:blip r:embed="rId5"/>
          <a:srcRect b="11151"/>
          <a:stretch>
            <a:fillRect/>
          </a:stretch>
        </p:blipFill>
        <p:spPr>
          <a:xfrm>
            <a:off x="18210527" y="9803975"/>
            <a:ext cx="4978034" cy="53531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3" name="Picture 32">
            <a:extLst>
              <a:ext uri="{FF2B5EF4-FFF2-40B4-BE49-F238E27FC236}">
                <a16:creationId xmlns:a16="http://schemas.microsoft.com/office/drawing/2014/main" id="{8DE77543-7B2F-F91D-34DF-50B35A449BA9}"/>
              </a:ext>
            </a:extLst>
          </p:cNvPr>
          <p:cNvPicPr>
            <a:picLocks noChangeAspect="1"/>
          </p:cNvPicPr>
          <p:nvPr/>
        </p:nvPicPr>
        <p:blipFill>
          <a:blip r:embed="rId6"/>
          <a:srcRect l="34751"/>
          <a:stretch>
            <a:fillRect/>
          </a:stretch>
        </p:blipFill>
        <p:spPr>
          <a:xfrm>
            <a:off x="18210527" y="16213105"/>
            <a:ext cx="5015212" cy="4374916"/>
          </a:xfrm>
          <a:prstGeom prst="rect">
            <a:avLst/>
          </a:prstGeom>
          <a:ln w="38100">
            <a:solidFill>
              <a:schemeClr val="tx1"/>
            </a:solidFill>
          </a:ln>
        </p:spPr>
      </p:pic>
      <p:sp>
        <p:nvSpPr>
          <p:cNvPr id="34" name="Oval 33">
            <a:extLst>
              <a:ext uri="{FF2B5EF4-FFF2-40B4-BE49-F238E27FC236}">
                <a16:creationId xmlns:a16="http://schemas.microsoft.com/office/drawing/2014/main" id="{17ECCFCB-7280-B228-5475-B42AC0B8D0AD}"/>
              </a:ext>
            </a:extLst>
          </p:cNvPr>
          <p:cNvSpPr/>
          <p:nvPr/>
        </p:nvSpPr>
        <p:spPr>
          <a:xfrm>
            <a:off x="19698812" y="8267700"/>
            <a:ext cx="3022600" cy="48028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43653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2233</TotalTime>
  <Words>539</Words>
  <Application>Microsoft Office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Aptos Narrow</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Karaca Ali Eren</dc:creator>
  <cp:lastModifiedBy>Karaca Ali Eren</cp:lastModifiedBy>
  <cp:revision>6</cp:revision>
  <dcterms:created xsi:type="dcterms:W3CDTF">2025-09-15T02:38:03Z</dcterms:created>
  <dcterms:modified xsi:type="dcterms:W3CDTF">2025-11-24T20:30:33Z</dcterms:modified>
</cp:coreProperties>
</file>